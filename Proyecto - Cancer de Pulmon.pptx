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567805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134593182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902636784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166365521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705200857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497157328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973805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8280632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482068715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E20F75-1399-E673-34CF-BB29CB399B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C69DFD-EFF7-EB02-69F8-3C61CC4D13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F78687-6DC9-49FF-75F5-808E9F3875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742A93-3E89-2266-DE0F-A1C68D08B3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DE7FDD-0CC2-FCCC-DF7C-AA3E1B531E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C68E55-2F19-1D87-796E-27FDE53846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006A93-63EA-CAB4-BFCE-AE7078053D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40E8D9-50D1-9A83-F152-2DD20ECC96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49BB2F-3AA8-9DA1-A3D5-B2A20CC9B2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1F2CA5-BC08-21B3-A5BD-00A040C038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74BA67-2298-B616-20D7-2EA5F91C3E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B5B2B0-C724-4F21-C17E-7354ACA294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88615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794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87177-87B2-92B2-B371-BE050EA6D0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189A38-0700-FA33-E018-026D96DF99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A6073B-CFD8-21A6-8E7F-9327FCC7FD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38A901-9B6C-BF6A-681E-9F7B84F1C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C8A40A-97A6-DA7F-1366-C828F399F7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BD401-BCFB-92B0-8A0E-540E027033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884C4A-0634-1D75-65A9-71D9AD0B0F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C684AE-0433-DA37-2F2F-A3292BB8C1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844481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6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17622463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746327691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20507128" name="Title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6600850" name="Date Placeholder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369620594" name="Footer Placeholder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842066" name="Slide Number Placeholder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9171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555214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381452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20936365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9347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76507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901025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376085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20820075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8364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44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253493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11275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9646403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384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34832604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3147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7732932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6350716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971940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562052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714111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6793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512417728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691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635474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204374548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14661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45737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82879665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6082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782810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5966812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611639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122506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4037744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5686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204176" name="Title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3526430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21198190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657672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7442955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4488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8076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891461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597265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6884032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903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91715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82295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641619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0037433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027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928402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39114161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1343130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98257947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32422352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40101593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57265543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86359032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25382154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0375384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32700132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13826871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09511300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04260061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5428559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05116224" name="Shape 1117"/>
          <p:cNvSpPr>
            <a:spLocks noChangeArrowheads="1" noGrp="1"/>
          </p:cNvSpPr>
          <p:nvPr userDrawn="1"/>
        </p:nvSpPr>
        <p:spPr bwMode="auto">
          <a:xfrm>
            <a:off x="1045633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65238889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6593615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94571779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77553905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18617187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96012500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40525400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84685113" name="Shape 1139"/>
          <p:cNvSpPr>
            <a:spLocks noChangeArrowheads="1" noGrp="1"/>
          </p:cNvSpPr>
          <p:nvPr userDrawn="1"/>
        </p:nvSpPr>
        <p:spPr bwMode="auto">
          <a:xfrm>
            <a:off x="1648463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55029953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86918246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4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48302830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19859181" name="Shape 1143"/>
          <p:cNvSpPr>
            <a:spLocks noChangeArrowheads="1" noGrp="1"/>
          </p:cNvSpPr>
          <p:nvPr userDrawn="1"/>
        </p:nvSpPr>
        <p:spPr bwMode="auto">
          <a:xfrm>
            <a:off x="3596921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23871143" name="Shape 1144"/>
          <p:cNvSpPr>
            <a:spLocks noChangeArrowheads="1" noGrp="1"/>
          </p:cNvSpPr>
          <p:nvPr userDrawn="1"/>
        </p:nvSpPr>
        <p:spPr bwMode="auto">
          <a:xfrm>
            <a:off x="3037843" y="5578670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7320451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74950084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34147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9983720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34906907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2757825" name="Title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3128993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01872" name="Título 1"/>
          <p:cNvSpPr>
            <a:spLocks noGrp="1"/>
          </p:cNvSpPr>
          <p:nvPr>
            <p:ph type="ctrTitle"/>
          </p:nvPr>
        </p:nvSpPr>
        <p:spPr bwMode="auto">
          <a:xfrm flipH="0" flipV="0">
            <a:off x="35758" y="731383"/>
            <a:ext cx="8419419" cy="50176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es-ES" sz="28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Predicción temprana del cáncer de pulmón mediante  técnicas de aprendizaje automático utilizando  datos clínicos de encuestas</a:t>
            </a:r>
            <a:br>
              <a:rPr lang="es-ES" sz="28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</a:br>
            <a:br>
              <a:rPr lang="es-ES" sz="28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es-ES" sz="28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PROYECTO DE INTELIGENCIA ARTIFICIAL PARALELO 9-4</a:t>
            </a:r>
            <a:r>
              <a:rPr lang="es-ES" sz="32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36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endParaRPr lang="es-ES" sz="3600"/>
          </a:p>
        </p:txBody>
      </p:sp>
      <p:sp>
        <p:nvSpPr>
          <p:cNvPr id="1583289055" name="Subtítulo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659285" y="2109106"/>
            <a:ext cx="3452812" cy="2755446"/>
          </a:xfrm>
        </p:spPr>
        <p:txBody>
          <a:bodyPr/>
          <a:lstStyle/>
          <a:p>
            <a:pPr>
              <a:defRPr/>
            </a:pPr>
            <a:r>
              <a:rPr sz="1400"/>
              <a:t>CHALÉN MALO VICTOR MEDARDO</a:t>
            </a:r>
            <a:endParaRPr lang="es-ES"/>
          </a:p>
          <a:p>
            <a:pPr>
              <a:defRPr/>
            </a:pPr>
            <a:r>
              <a:rPr sz="1400"/>
              <a:t>THEURER IÑIGUEZ ERICK ARTURO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457761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s-ES" sz="40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Regresión Lineal aplicada a la detección de cáncer de pulmón</a:t>
            </a:r>
            <a:endParaRPr/>
          </a:p>
        </p:txBody>
      </p:sp>
      <p:sp>
        <p:nvSpPr>
          <p:cNvPr id="78297785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75937" y="1600203"/>
            <a:ext cx="11566071" cy="482917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La regresión lineal es un modelo supervisado que predice valores continuos.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En este proyecto se adapta para un problema de clasificación binaria: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0 → No cáncer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1 → Cáncer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Se utiliza un umbral de 0.5 para convertir la salida continua en clases.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Aunque no es el modelo ideal (la regresión logística es más adecuada), se usa con fines: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Comparativos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Académicos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Interpretativos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582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Métricas y desempeño del modelo</a:t>
            </a:r>
            <a:endParaRPr/>
          </a:p>
        </p:txBody>
      </p:sp>
      <p:sp>
        <p:nvSpPr>
          <p:cNvPr id="98721623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Métricas de regresión: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MSE (Error cuadrático medio)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RMSE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MAE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R²</a:t>
            </a:r>
            <a:endParaRPr/>
          </a:p>
        </p:txBody>
      </p:sp>
      <p:sp>
        <p:nvSpPr>
          <p:cNvPr id="7721242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Métricas de clasificación (con umbral 0.5):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Accuracy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Precision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Recall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F1-score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59142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56874" y="273054"/>
            <a:ext cx="4363819" cy="1162049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es-ES" sz="20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Interpretación y análisis de resultados</a:t>
            </a:r>
            <a:endParaRPr/>
          </a:p>
        </p:txBody>
      </p:sp>
      <p:pic>
        <p:nvPicPr>
          <p:cNvPr id="1697135657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4766732" y="854079"/>
            <a:ext cx="7339574" cy="4378512"/>
          </a:xfrm>
          <a:prstGeom prst="rect">
            <a:avLst/>
          </a:prstGeom>
        </p:spPr>
      </p:pic>
      <p:sp>
        <p:nvSpPr>
          <p:cNvPr id="93845385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256874" y="1435103"/>
            <a:ext cx="4363819" cy="469106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239821" indent="-239821">
              <a:buFont typeface="Arial"/>
              <a:buChar char="•"/>
              <a:defRPr/>
            </a:pPr>
            <a:r>
              <a:rPr lang="es-E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La regresión lineal permite analizar el peso de cada característica.  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lang="es-E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Los coeficientes indican:  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639871" lvl="1" indent="-239821">
              <a:buFont typeface="Arial"/>
              <a:buChar char="•"/>
              <a:defRPr/>
            </a:pPr>
            <a:r>
              <a:rPr lang="es-E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Valores positivos → mayor probabilidad de cáncer  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639871" lvl="1" indent="-239821">
              <a:buFont typeface="Arial"/>
              <a:buChar char="•"/>
              <a:defRPr/>
            </a:pPr>
            <a:r>
              <a:rPr lang="es-E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Valores negativos → menor probabilidad  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lang="es-E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Se comparan:  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639871" lvl="1" indent="-239821">
              <a:buFont typeface="Arial"/>
              <a:buChar char="•"/>
              <a:defRPr/>
            </a:pPr>
            <a:r>
              <a:rPr lang="es-E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Valores reales vs predicciones  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639871" lvl="1" indent="-239821">
              <a:buFont typeface="Arial"/>
              <a:buChar char="•"/>
              <a:defRPr/>
            </a:pPr>
            <a:r>
              <a:rPr lang="es-E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Comportamiento del modelo frente al umbral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2208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Árbol de Decisión</a:t>
            </a:r>
            <a:endParaRPr/>
          </a:p>
        </p:txBody>
      </p:sp>
      <p:sp>
        <p:nvSpPr>
          <p:cNvPr id="7689859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Modelo supervisado de clasificación.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Toma decisiones mediante reglas tipo if–else.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Cada nodo evalúa una característica clínica.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Resultado final: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No Cáncer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Cáncer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Modelo altamente interpretable y fácil de explicar.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6001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Entrenamiento y uso en el proyecto</a:t>
            </a:r>
            <a:endParaRPr/>
          </a:p>
        </p:txBody>
      </p:sp>
      <p:sp>
        <p:nvSpPr>
          <p:cNvPr id="34909973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Entrenado con variables clínicas del dataset.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Aprende reglas que separan pacientes con y sin cáncer.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Ventajas: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No requiere normalización estricta.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Explicabilidad directa.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Desventaja: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Riesgo de overfitting si el árbol es muy profundo.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1642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87829" y="51026"/>
            <a:ext cx="10588757" cy="1190624"/>
          </a:xfrm>
        </p:spPr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Visualización del modelo</a:t>
            </a:r>
            <a:endParaRPr/>
          </a:p>
        </p:txBody>
      </p:sp>
      <p:pic>
        <p:nvPicPr>
          <p:cNvPr id="40776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71253" y="1122589"/>
            <a:ext cx="9855365" cy="56075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1662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¿Qué es la Curva ROC?</a:t>
            </a:r>
            <a:endParaRPr/>
          </a:p>
        </p:txBody>
      </p:sp>
      <p:sp>
        <p:nvSpPr>
          <p:cNvPr id="200975926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La curva ROC evalúa el rendimiento de un clasificador binario.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Ejes: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TPR (Recall / Sensibilidad) → detección correcta de casos con cáncer.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FPR → falsos positivos.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Compara el modelo frente a un clasificador aleatorio.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Es clave en problemas médicos.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0251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AUC y significado clínico</a:t>
            </a:r>
            <a:endParaRPr/>
          </a:p>
        </p:txBody>
      </p:sp>
      <p:sp>
        <p:nvSpPr>
          <p:cNvPr id="15665229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AUC (Área bajo la curva):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0.5 → modelo aleatorio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1.0 → modelo perfecto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Un AUC alto indica: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Buena separación entre pacientes con y sin cáncer.  </a:t>
            </a:r>
            <a:endParaRPr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Métrica robusta frente a desbalance de clases.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98389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90892" y="273054"/>
            <a:ext cx="4329801" cy="1162049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es-ES" sz="2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Resultados del modelo</a:t>
            </a:r>
            <a:endParaRPr sz="2400"/>
          </a:p>
        </p:txBody>
      </p:sp>
      <p:pic>
        <p:nvPicPr>
          <p:cNvPr id="203729955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4715706" y="822048"/>
            <a:ext cx="7378921" cy="5148084"/>
          </a:xfrm>
          <a:prstGeom prst="rect">
            <a:avLst/>
          </a:prstGeom>
        </p:spPr>
      </p:pic>
      <p:sp>
        <p:nvSpPr>
          <p:cNvPr id="1527334956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341919" y="1435104"/>
            <a:ext cx="4218213" cy="51133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defRPr/>
            </a:pPr>
            <a:r>
              <a:rPr lang="es-E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Por qué esta imagen es la correcta:  </a:t>
            </a:r>
            <a:endParaRPr sz="24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lang="es-E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Resume todo el desempeño del modelo en una sola gráfica.  </a:t>
            </a:r>
            <a:endParaRPr sz="24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lang="es-E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Visualmente clara.  </a:t>
            </a:r>
            <a:endParaRPr sz="24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lang="es-E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Muy bien vista en evaluaciones de IA en salud.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467731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815413" y="1595438"/>
            <a:ext cx="5178986" cy="48679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KNN es un algoritmo supervisado de clasificación.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Clasifica una instancia según la clase de sus k vecinos más cercanos.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Usa distancia euclidiana para medir similitud.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No construye un modelo explícito: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Aprende directamente de los datos.</a:t>
            </a:r>
            <a:endParaRPr/>
          </a:p>
        </p:txBody>
      </p:sp>
      <p:sp>
        <p:nvSpPr>
          <p:cNvPr id="505711630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97599" y="1595438"/>
            <a:ext cx="5540301" cy="49189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Configuración del modelo</a:t>
            </a:r>
            <a:endParaRPr sz="2600"/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Valor de k = 5.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Datos previamente escalados (requisito fundamental en KNN).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Votación: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Tipo: uniforme.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Salida: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Clasificación binaria (No Cáncer / Cáncer).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Probabilidades usadas para AUC-ROC.</a:t>
            </a:r>
            <a:endParaRPr/>
          </a:p>
        </p:txBody>
      </p:sp>
      <p:sp>
        <p:nvSpPr>
          <p:cNvPr id="1880835749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K-Nearest Neighbors (KNN)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290377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es-ES" sz="20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Evaluación del modelo</a:t>
            </a:r>
            <a:endParaRPr/>
          </a:p>
        </p:txBody>
      </p:sp>
      <p:pic>
        <p:nvPicPr>
          <p:cNvPr id="11248691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4934330" y="417846"/>
            <a:ext cx="6942880" cy="5960501"/>
          </a:xfrm>
          <a:prstGeom prst="rect">
            <a:avLst/>
          </a:prstGeom>
        </p:spPr>
      </p:pic>
      <p:sp>
        <p:nvSpPr>
          <p:cNvPr id="1080777099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341919" y="1435103"/>
            <a:ext cx="427877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349965" indent="-349965">
              <a:buFont typeface="Arial"/>
              <a:buChar char="•"/>
              <a:defRPr/>
            </a:pPr>
            <a:r>
              <a:rPr lang="es-ES" sz="2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Métricas usadas:  </a:t>
            </a:r>
            <a:endParaRPr sz="2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s-ES" sz="2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Accuracy  </a:t>
            </a:r>
            <a:endParaRPr sz="2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s-ES" sz="2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Precision  </a:t>
            </a:r>
            <a:endParaRPr sz="2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s-ES" sz="2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Recall  </a:t>
            </a:r>
            <a:endParaRPr sz="2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s-ES" sz="2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F1-Score  </a:t>
            </a:r>
            <a:endParaRPr sz="2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s-ES" sz="2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AUC-ROC  </a:t>
            </a:r>
            <a:endParaRPr sz="2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es-ES" sz="2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Permite evaluar el equilibrio entre:  </a:t>
            </a:r>
            <a:endParaRPr sz="2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s-ES" sz="2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Detección correcta de cáncer  </a:t>
            </a:r>
            <a:endParaRPr sz="2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s-ES" sz="2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Falsos positivos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984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Gaussian Naive Bayes</a:t>
            </a:r>
            <a:endParaRPr/>
          </a:p>
        </p:txBody>
      </p:sp>
      <p:sp>
        <p:nvSpPr>
          <p:cNvPr id="17984843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Clasificador probabilístico basado en el Teorema de Bayes.  </a:t>
            </a:r>
            <a:endParaRPr lang="es-E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Asume independencia entre las variables (suposición “naive”).  </a:t>
            </a:r>
            <a:endParaRPr lang="es-E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La variante Gaussian Naive Bayes:  </a:t>
            </a:r>
            <a:endParaRPr lang="es-E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Se usa cuando las variables son continuas  </a:t>
            </a:r>
            <a:endParaRPr lang="es-ES" sz="32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Asume distribución normal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9305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Uso en el proyecto</a:t>
            </a:r>
            <a:endParaRPr/>
          </a:p>
        </p:txBody>
      </p:sp>
      <p:sp>
        <p:nvSpPr>
          <p:cNvPr id="85538496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99253" y="1600203"/>
            <a:ext cx="11023692" cy="4525962"/>
          </a:xfrm>
        </p:spPr>
        <p:txBody>
          <a:bodyPr/>
          <a:lstStyle/>
          <a:p>
            <a:pPr lvl="1">
              <a:buFont typeface="Arial"/>
              <a:buChar char="•"/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Aplicado a datos clínicos escalados.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buFont typeface="Arial"/>
              <a:buChar char="•"/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Calcula la probabilidad de que un paciente tenga cáncer.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buFont typeface="Arial"/>
              <a:buChar char="•"/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Ventajas: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2">
              <a:buFont typeface="Arial"/>
              <a:buChar char="•"/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Muy rápido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2">
              <a:buFont typeface="Arial"/>
              <a:buChar char="•"/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Bajo costo computacional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2">
              <a:buFont typeface="Arial"/>
              <a:buChar char="•"/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Funciona bien con pocos datos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buFont typeface="Arial"/>
              <a:buChar char="•"/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Desventajas: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2">
              <a:buFont typeface="Arial"/>
              <a:buChar char="•"/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Suposiciones fuertes  </a:t>
            </a:r>
            <a:endParaRPr sz="28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2">
              <a:buFont typeface="Arial"/>
              <a:buChar char="•"/>
              <a:defRPr/>
            </a:pPr>
            <a:r>
              <a:rPr lang="es-ES" sz="28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Menor capacidad para relaciones complejas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311385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es-ES" sz="20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Evaluación del modelo</a:t>
            </a:r>
            <a:endParaRPr/>
          </a:p>
        </p:txBody>
      </p:sp>
      <p:pic>
        <p:nvPicPr>
          <p:cNvPr id="859320584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5178953" y="627857"/>
            <a:ext cx="5991224" cy="5143500"/>
          </a:xfrm>
          <a:prstGeom prst="rect">
            <a:avLst/>
          </a:prstGeom>
        </p:spPr>
      </p:pic>
      <p:sp>
        <p:nvSpPr>
          <p:cNvPr id="607184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349965" indent="-349965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Métricas usadas: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4" lvl="1" indent="-349965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Accuracy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4" lvl="1" indent="-349965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Precision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4" lvl="1" indent="-349965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Recall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750014" lvl="1" indent="-349965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F1-Score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750014" lvl="1" indent="-349965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AUC-ROC  </a:t>
            </a:r>
            <a:endParaRPr sz="14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080299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es-ES" sz="20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¿Qué se está comparando?</a:t>
            </a:r>
            <a:endParaRPr/>
          </a:p>
        </p:txBody>
      </p:sp>
      <p:pic>
        <p:nvPicPr>
          <p:cNvPr id="1657687528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4766732" y="477475"/>
            <a:ext cx="6815666" cy="5444263"/>
          </a:xfrm>
          <a:prstGeom prst="rect">
            <a:avLst/>
          </a:prstGeom>
        </p:spPr>
      </p:pic>
      <p:sp>
        <p:nvSpPr>
          <p:cNvPr id="8187824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239821" indent="-239821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Comparación del desempeño de: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639871" lvl="1" indent="-239821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Gaussian Naive Bayes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639871" lvl="1" indent="-239821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Bernoulli Naive Bayes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639871" lvl="1" indent="-239821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Multinomial Naive Bayes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Se utiliza la Curva ROC como métrica global.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Permite evaluar: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639871" lvl="1" indent="-239821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Capacidad de discriminación  </a:t>
            </a:r>
            <a:endParaRPr sz="2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639871" lvl="1" indent="-239821">
              <a:buFont typeface="Arial"/>
              <a:buChar char="•"/>
              <a:defRPr/>
            </a:pPr>
            <a:r>
              <a:rPr lang="es-ES" sz="2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Robustez del modelo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864452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Algoritmos No Supervisados – Clustering</a:t>
            </a:r>
            <a:endParaRPr/>
          </a:p>
        </p:txBody>
      </p:sp>
      <p:sp>
        <p:nvSpPr>
          <p:cNvPr id="11552983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Técnica de aprendizaje no supervisado.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No usa etiquetas (no sabe quién tiene cáncer).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Agrupa datos según similitud entre características.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Objetivo: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Encontrar patrones ocultos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Identificar grupos naturales de pacientes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587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Uso del clustering en el proyecto</a:t>
            </a:r>
            <a:endParaRPr/>
          </a:p>
        </p:txBody>
      </p:sp>
      <p:sp>
        <p:nvSpPr>
          <p:cNvPr id="10727516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Se aplica a variables clínicas del dataset.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Permite: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Detectar perfiles de pacientes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Analizar similitudes entre grupos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Útil como: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Análisis exploratorio  </a:t>
            </a:r>
            <a:endParaRPr sz="36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s-ES" sz="36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Apoyo al diagnóstico, no como clasificador final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205155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VISUALIZACIÓN DE CLUSTERS CON PCA</a:t>
            </a:r>
            <a:endParaRPr/>
          </a:p>
        </p:txBody>
      </p:sp>
      <p:pic>
        <p:nvPicPr>
          <p:cNvPr id="5492631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48382" y="1324845"/>
            <a:ext cx="7867649" cy="5227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079440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s-ES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COMPARACIÓN DE MÉTODOS DE CLUSTERING</a:t>
            </a:r>
            <a:endParaRPr/>
          </a:p>
        </p:txBody>
      </p:sp>
      <p:pic>
        <p:nvPicPr>
          <p:cNvPr id="18012741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6749" y="1418580"/>
            <a:ext cx="11658600" cy="38449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43028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40229" y="2295524"/>
            <a:ext cx="10588757" cy="1809749"/>
          </a:xfrm>
        </p:spPr>
        <p:txBody>
          <a:bodyPr/>
          <a:lstStyle/>
          <a:p>
            <a:pPr>
              <a:defRPr/>
            </a:pPr>
            <a:r>
              <a:rPr sz="7200"/>
              <a:t>MUCHAS GRACIAS</a:t>
            </a:r>
            <a:endParaRPr sz="7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2026-02-06T23:26:33Z</dcterms:modified>
</cp:coreProperties>
</file>